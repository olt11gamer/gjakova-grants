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7A1F2B" accent2="E2E3E5" accent3="F0F1F2" accent4="202124" accent5="666A70" accent6="FFFFFF" bg1="FFFFFF" bg2="F8F8F7" folHlink="0000FF" hlink="0000FF" lt1="FFFFFF" lt2="F8F8F7" dk1="202124" dk2="666A70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sset_final_mobile_call_390x844.png"/><Relationship Id="rId3" Type="http://schemas.openxmlformats.org/officeDocument/2006/relationships/image" Target="../media/asset_gjakova_grants_logo_original_fallback.png"/><Relationship Id="rId4" Type="http://schemas.openxmlformats.org/officeDocument/2006/relationships/image" Target="../media/asset_gjakova_grants_logo_original.svg"/><Relationship Id="rId5" Type="http://schemas.openxmlformats.org/officeDocument/2006/relationships/image" Target="../media/asset_final_staff_case_1440x90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sset_final_mobile_correction_390x844.png"/><Relationship Id="rId3" Type="http://schemas.openxmlformats.org/officeDocument/2006/relationships/image" Target="../media/asset_final_staff_version_compare_1440x90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sset_final_staff_archive_1440x9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7"/>
          </a:solidFill>
          <a:ln>
            <a:noFill/>
          </a:ln>
        </p:spPr>
      </p:sp>
      <p:pic>
        <p:nvPicPr>
          <p:cNvPr id="2" name="Image 2" descr="final-mobile-call-390x8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47472"/>
            <a:ext cx="2743200" cy="5934456"/>
          </a:xfrm>
          <a:prstGeom prst="rect">
            <a:avLst/>
          </a:prstGeom>
        </p:spPr>
      </p:pic>
      <p:pic>
        <p:nvPicPr>
          <p:cNvPr id="3" name="Image 3" descr="gjakova-grants-logo-original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5888" y="658368"/>
            <a:ext cx="2221992" cy="841248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3675888" y="1764792"/>
            <a:ext cx="7223760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9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Gjakova Grants</a:t>
            </a:r>
            <a:endParaRPr lang="en-US" sz="3900"/>
          </a:p>
        </p:txBody>
      </p:sp>
      <p:sp>
        <p:nvSpPr>
          <p:cNvPr id="5" name="Text 5"/>
          <p:cNvSpPr txBox="1"/>
          <p:nvPr/>
        </p:nvSpPr>
        <p:spPr>
          <a:xfrm>
            <a:off x="3675888" y="2542032"/>
            <a:ext cx="7452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70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Public funding, made understandable.</a:t>
            </a:r>
            <a:endParaRPr lang="en-US" sz="2700"/>
          </a:p>
        </p:txBody>
      </p:sp>
      <p:sp>
        <p:nvSpPr>
          <p:cNvPr id="6" name="Text 6"/>
          <p:cNvSpPr txBox="1"/>
          <p:nvPr/>
        </p:nvSpPr>
        <p:spPr>
          <a:xfrm>
            <a:off x="3675888" y="3227832"/>
            <a:ext cx="66294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90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From application preparation to traceable municipal review.</a:t>
            </a:r>
            <a:endParaRPr lang="en-US" sz="1900"/>
          </a:p>
        </p:txBody>
      </p:sp>
      <p:sp>
        <p:nvSpPr>
          <p:cNvPr id="7" name="Text 7"/>
          <p:cNvSpPr txBox="1"/>
          <p:nvPr/>
        </p:nvSpPr>
        <p:spPr>
          <a:xfrm>
            <a:off x="3675888" y="4069080"/>
            <a:ext cx="239572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Team Pooks · Gjakova · Track C</a:t>
            </a:r>
            <a:endParaRPr lang="en-US" sz="1180"/>
          </a:p>
        </p:txBody>
      </p:sp>
      <p:pic>
        <p:nvPicPr>
          <p:cNvPr id="8" name="Image 8" descr="final-staff-case-1440x900.png"/>
          <p:cNvPicPr>
            <a:picLocks noChangeAspect="1"/>
          </p:cNvPicPr>
          <p:nvPr/>
        </p:nvPicPr>
        <p:blipFill>
          <a:blip r:embed="rId5">
            <a:srcRect t="9798" b="9798"/>
          </a:blip>
          <a:stretch>
            <a:fillRect/>
          </a:stretch>
        </p:blipFill>
        <p:spPr>
          <a:xfrm>
            <a:off x="6144768" y="3931920"/>
            <a:ext cx="545896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7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21792" y="50292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20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One grant. Too many disconnected steps.</a:t>
            </a:r>
            <a:endParaRPr lang="en-US" sz="3200"/>
          </a:p>
        </p:txBody>
      </p:sp>
      <p:sp>
        <p:nvSpPr>
          <p:cNvPr id="11" name="Shape 11"/>
          <p:cNvSpPr/>
          <p:nvPr/>
        </p:nvSpPr>
        <p:spPr>
          <a:xfrm>
            <a:off x="6071616" y="1490472"/>
            <a:ext cx="10973" cy="4251960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13232" y="1527048"/>
            <a:ext cx="4892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TODAY</a:t>
            </a:r>
            <a:endParaRPr lang="en-US" sz="1500"/>
          </a:p>
        </p:txBody>
      </p:sp>
      <p:sp>
        <p:nvSpPr>
          <p:cNvPr id="13" name="Text 13"/>
          <p:cNvSpPr txBox="1"/>
          <p:nvPr/>
        </p:nvSpPr>
        <p:spPr>
          <a:xfrm>
            <a:off x="6382512" y="1527048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GJAKOVA GRANTS</a:t>
            </a:r>
            <a:endParaRPr lang="en-US" sz="1500"/>
          </a:p>
        </p:txBody>
      </p:sp>
      <p:sp>
        <p:nvSpPr>
          <p:cNvPr id="14" name="Shape 14"/>
          <p:cNvSpPr/>
          <p:nvPr/>
        </p:nvSpPr>
        <p:spPr>
          <a:xfrm>
            <a:off x="731520" y="2212848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960120" y="2075688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Separate call + application documents</a:t>
            </a:r>
            <a:endParaRPr lang="en-US" sz="1800"/>
          </a:p>
        </p:txBody>
      </p:sp>
      <p:sp>
        <p:nvSpPr>
          <p:cNvPr id="16" name="Shape 16"/>
          <p:cNvSpPr/>
          <p:nvPr/>
        </p:nvSpPr>
        <p:spPr>
          <a:xfrm>
            <a:off x="731520" y="2999232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960120" y="2862072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Manual document checking</a:t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731520" y="3785616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960120" y="3648456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Missing evidence creates back-and-forth</a:t>
            </a:r>
            <a:endParaRPr lang="en-US" sz="1800"/>
          </a:p>
        </p:txBody>
      </p:sp>
      <p:sp>
        <p:nvSpPr>
          <p:cNvPr id="20" name="Shape 20"/>
          <p:cNvSpPr/>
          <p:nvPr/>
        </p:nvSpPr>
        <p:spPr>
          <a:xfrm>
            <a:off x="731520" y="4572000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60120" y="4434840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Corrections need a clear record</a:t>
            </a:r>
            <a:endParaRPr lang="en-US" sz="1800"/>
          </a:p>
        </p:txBody>
      </p:sp>
      <p:sp>
        <p:nvSpPr>
          <p:cNvPr id="22" name="Shape 22"/>
          <p:cNvSpPr/>
          <p:nvPr/>
        </p:nvSpPr>
        <p:spPr>
          <a:xfrm>
            <a:off x="6391656" y="2212848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629400" y="2075688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Guided preparation</a:t>
            </a:r>
            <a:endParaRPr lang="en-US" sz="1800"/>
          </a:p>
        </p:txBody>
      </p:sp>
      <p:sp>
        <p:nvSpPr>
          <p:cNvPr id="24" name="Shape 24"/>
          <p:cNvSpPr/>
          <p:nvPr/>
        </p:nvSpPr>
        <p:spPr>
          <a:xfrm>
            <a:off x="6391656" y="2871216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629400" y="2734056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Reusable applicant information</a:t>
            </a:r>
            <a:endParaRPr lang="en-US" sz="1800"/>
          </a:p>
        </p:txBody>
      </p:sp>
      <p:sp>
        <p:nvSpPr>
          <p:cNvPr id="26" name="Shape 26"/>
          <p:cNvSpPr/>
          <p:nvPr/>
        </p:nvSpPr>
        <p:spPr>
          <a:xfrm>
            <a:off x="6391656" y="3529584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629400" y="3392424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Clear requirement checks</a:t>
            </a:r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6391656" y="4187952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6629400" y="4050792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Versioned corrections</a:t>
            </a:r>
            <a:endParaRPr lang="en-US" sz="1800"/>
          </a:p>
        </p:txBody>
      </p:sp>
      <p:sp>
        <p:nvSpPr>
          <p:cNvPr id="30" name="Shape 30"/>
          <p:cNvSpPr/>
          <p:nvPr/>
        </p:nvSpPr>
        <p:spPr>
          <a:xfrm>
            <a:off x="6391656" y="4846320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6629400" y="4709160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Archive-ready handoff</a:t>
            </a:r>
            <a:endParaRPr lang="en-US" sz="1800"/>
          </a:p>
        </p:txBody>
      </p:sp>
      <p:sp>
        <p:nvSpPr>
          <p:cNvPr id="32" name="Shape 32"/>
          <p:cNvSpPr/>
          <p:nvPr/>
        </p:nvSpPr>
        <p:spPr>
          <a:xfrm>
            <a:off x="658368" y="5980176"/>
            <a:ext cx="10890504" cy="10973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713232" y="6062472"/>
            <a:ext cx="923544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2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Source: Gjakova Grantet 2026 public call + application pages (historical; deadline closed) · AI4Society Track C brief</a:t>
            </a:r>
            <a:endParaRPr lang="en-US" sz="1020"/>
          </a:p>
        </p:txBody>
      </p:sp>
      <p:sp>
        <p:nvSpPr>
          <p:cNvPr id="34" name="Text 34"/>
          <p:cNvSpPr txBox="1"/>
          <p:nvPr/>
        </p:nvSpPr>
        <p:spPr>
          <a:xfrm>
            <a:off x="10030968" y="6044184"/>
            <a:ext cx="1527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125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LIVE DEMO  →</a:t>
            </a:r>
            <a:endParaRPr lang="en-US"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7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621792" y="484632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20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One workflow. Better for both sides.</a:t>
            </a:r>
            <a:endParaRPr lang="en-US" sz="3200"/>
          </a:p>
        </p:txBody>
      </p:sp>
      <p:sp>
        <p:nvSpPr>
          <p:cNvPr id="37" name="Text 37"/>
          <p:cNvSpPr txBox="1"/>
          <p:nvPr/>
        </p:nvSpPr>
        <p:spPr>
          <a:xfrm>
            <a:off x="658368" y="1234440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APPLICANTS</a:t>
            </a:r>
            <a:endParaRPr lang="en-US" sz="1400"/>
          </a:p>
        </p:txBody>
      </p:sp>
      <p:sp>
        <p:nvSpPr>
          <p:cNvPr id="38" name="Text 38"/>
          <p:cNvSpPr txBox="1"/>
          <p:nvPr/>
        </p:nvSpPr>
        <p:spPr>
          <a:xfrm>
            <a:off x="6318504" y="1234440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MUNICIPAL STAFF</a:t>
            </a:r>
            <a:endParaRPr lang="en-US" sz="1400"/>
          </a:p>
        </p:txBody>
      </p:sp>
      <p:sp>
        <p:nvSpPr>
          <p:cNvPr id="39" name="Shape 39"/>
          <p:cNvSpPr/>
          <p:nvPr/>
        </p:nvSpPr>
        <p:spPr>
          <a:xfrm>
            <a:off x="6089904" y="1188720"/>
            <a:ext cx="10973" cy="4700016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pic>
        <p:nvPicPr>
          <p:cNvPr id="40" name="Image 40" descr="final-mobile-correction-390x8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36776"/>
            <a:ext cx="1938528" cy="4187952"/>
          </a:xfrm>
          <a:prstGeom prst="rect">
            <a:avLst/>
          </a:prstGeom>
        </p:spPr>
      </p:pic>
      <p:sp>
        <p:nvSpPr>
          <p:cNvPr id="41" name="Shape 41"/>
          <p:cNvSpPr/>
          <p:nvPr/>
        </p:nvSpPr>
        <p:spPr>
          <a:xfrm>
            <a:off x="2852928" y="2002536"/>
            <a:ext cx="64008" cy="64008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3090672" y="1847088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2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Understand what is required</a:t>
            </a:r>
            <a:endParaRPr lang="en-US" sz="1620"/>
          </a:p>
        </p:txBody>
      </p:sp>
      <p:sp>
        <p:nvSpPr>
          <p:cNvPr id="43" name="Shape 43"/>
          <p:cNvSpPr/>
          <p:nvPr/>
        </p:nvSpPr>
        <p:spPr>
          <a:xfrm>
            <a:off x="2852928" y="2697480"/>
            <a:ext cx="64008" cy="64008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3090672" y="2542032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2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Reuse information</a:t>
            </a:r>
            <a:endParaRPr lang="en-US" sz="1620"/>
          </a:p>
        </p:txBody>
      </p:sp>
      <p:sp>
        <p:nvSpPr>
          <p:cNvPr id="45" name="Shape 45"/>
          <p:cNvSpPr/>
          <p:nvPr/>
        </p:nvSpPr>
        <p:spPr>
          <a:xfrm>
            <a:off x="2852928" y="3392424"/>
            <a:ext cx="64008" cy="64008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3090672" y="3236976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2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See what is missing</a:t>
            </a:r>
            <a:endParaRPr lang="en-US" sz="1620"/>
          </a:p>
        </p:txBody>
      </p:sp>
      <p:sp>
        <p:nvSpPr>
          <p:cNvPr id="47" name="Shape 47"/>
          <p:cNvSpPr/>
          <p:nvPr/>
        </p:nvSpPr>
        <p:spPr>
          <a:xfrm>
            <a:off x="2852928" y="4087368"/>
            <a:ext cx="64008" cy="64008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3090672" y="3931920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2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Correct without restarting</a:t>
            </a:r>
            <a:endParaRPr lang="en-US" sz="1620"/>
          </a:p>
        </p:txBody>
      </p:sp>
      <p:sp>
        <p:nvSpPr>
          <p:cNvPr id="49" name="Shape 49"/>
          <p:cNvSpPr/>
          <p:nvPr/>
        </p:nvSpPr>
        <p:spPr>
          <a:xfrm>
            <a:off x="2852928" y="4782312"/>
            <a:ext cx="64008" cy="64008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50" name="Text 50"/>
          <p:cNvSpPr txBox="1"/>
          <p:nvPr/>
        </p:nvSpPr>
        <p:spPr>
          <a:xfrm>
            <a:off x="3090672" y="4626864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2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Track what happens next</a:t>
            </a:r>
            <a:endParaRPr lang="en-US" sz="1620"/>
          </a:p>
        </p:txBody>
      </p:sp>
      <p:pic>
        <p:nvPicPr>
          <p:cNvPr id="51" name="Image 51" descr="final-staff-version-compare-1440x900.png"/>
          <p:cNvPicPr>
            <a:picLocks noChangeAspect="1"/>
          </p:cNvPicPr>
          <p:nvPr/>
        </p:nvPicPr>
        <p:blipFill>
          <a:blip r:embed="rId3">
            <a:srcRect l="14298" r="14298"/>
          </a:blip>
          <a:stretch>
            <a:fillRect/>
          </a:stretch>
        </p:blipFill>
        <p:spPr>
          <a:xfrm>
            <a:off x="6318504" y="1636776"/>
            <a:ext cx="5221224" cy="3264408"/>
          </a:xfrm>
          <a:prstGeom prst="rect">
            <a:avLst/>
          </a:prstGeom>
        </p:spPr>
      </p:pic>
      <p:sp>
        <p:nvSpPr>
          <p:cNvPr id="52" name="Shape 52"/>
          <p:cNvSpPr/>
          <p:nvPr/>
        </p:nvSpPr>
        <p:spPr>
          <a:xfrm>
            <a:off x="6364224" y="5129784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53" name="Text 53"/>
          <p:cNvSpPr txBox="1"/>
          <p:nvPr/>
        </p:nvSpPr>
        <p:spPr>
          <a:xfrm>
            <a:off x="6528816" y="5029200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1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Review evidence together</a:t>
            </a:r>
            <a:endParaRPr lang="en-US" sz="1210"/>
          </a:p>
        </p:txBody>
      </p:sp>
      <p:sp>
        <p:nvSpPr>
          <p:cNvPr id="54" name="Shape 54"/>
          <p:cNvSpPr/>
          <p:nvPr/>
        </p:nvSpPr>
        <p:spPr>
          <a:xfrm>
            <a:off x="9006840" y="5129784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55" name="Text 55"/>
          <p:cNvSpPr txBox="1"/>
          <p:nvPr/>
        </p:nvSpPr>
        <p:spPr>
          <a:xfrm>
            <a:off x="9171432" y="5029200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1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Request targeted corrections</a:t>
            </a:r>
            <a:endParaRPr lang="en-US" sz="1210"/>
          </a:p>
        </p:txBody>
      </p:sp>
      <p:sp>
        <p:nvSpPr>
          <p:cNvPr id="56" name="Shape 56"/>
          <p:cNvSpPr/>
          <p:nvPr/>
        </p:nvSpPr>
        <p:spPr>
          <a:xfrm>
            <a:off x="6364224" y="5422392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57" name="Text 57"/>
          <p:cNvSpPr txBox="1"/>
          <p:nvPr/>
        </p:nvSpPr>
        <p:spPr>
          <a:xfrm>
            <a:off x="6528816" y="5321808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1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Compare document versions</a:t>
            </a:r>
            <a:endParaRPr lang="en-US" sz="1210"/>
          </a:p>
        </p:txBody>
      </p:sp>
      <p:sp>
        <p:nvSpPr>
          <p:cNvPr id="58" name="Shape 58"/>
          <p:cNvSpPr/>
          <p:nvPr/>
        </p:nvSpPr>
        <p:spPr>
          <a:xfrm>
            <a:off x="9006840" y="5422392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59" name="Text 59"/>
          <p:cNvSpPr txBox="1"/>
          <p:nvPr/>
        </p:nvSpPr>
        <p:spPr>
          <a:xfrm>
            <a:off x="9171432" y="5321808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1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Keep a readable history</a:t>
            </a:r>
            <a:endParaRPr lang="en-US" sz="1210"/>
          </a:p>
        </p:txBody>
      </p:sp>
      <p:sp>
        <p:nvSpPr>
          <p:cNvPr id="60" name="Shape 60"/>
          <p:cNvSpPr/>
          <p:nvPr/>
        </p:nvSpPr>
        <p:spPr>
          <a:xfrm>
            <a:off x="6364224" y="5715000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61" name="Text 61"/>
          <p:cNvSpPr txBox="1"/>
          <p:nvPr/>
        </p:nvSpPr>
        <p:spPr>
          <a:xfrm>
            <a:off x="6528816" y="561441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1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Prepare the archive handoff</a:t>
            </a:r>
            <a:endParaRPr lang="en-US" sz="1210"/>
          </a:p>
        </p:txBody>
      </p:sp>
      <p:sp>
        <p:nvSpPr>
          <p:cNvPr id="62" name="Shape 62"/>
          <p:cNvSpPr/>
          <p:nvPr/>
        </p:nvSpPr>
        <p:spPr>
          <a:xfrm>
            <a:off x="658368" y="6071616"/>
            <a:ext cx="1088136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3E5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832104" y="6108192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4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SIMULATED DOCUMENT READING</a:t>
            </a:r>
            <a:endParaRPr lang="en-US" sz="1040"/>
          </a:p>
        </p:txBody>
      </p:sp>
      <p:sp>
        <p:nvSpPr>
          <p:cNvPr id="64" name="Text 64"/>
          <p:cNvSpPr txBox="1"/>
          <p:nvPr/>
        </p:nvSpPr>
        <p:spPr>
          <a:xfrm>
            <a:off x="3154680" y="610819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4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Reads structured information</a:t>
            </a:r>
            <a:endParaRPr lang="en-US" sz="1140"/>
          </a:p>
        </p:txBody>
      </p:sp>
      <p:sp>
        <p:nvSpPr>
          <p:cNvPr id="65" name="Text 65"/>
          <p:cNvSpPr txBox="1"/>
          <p:nvPr/>
        </p:nvSpPr>
        <p:spPr>
          <a:xfrm>
            <a:off x="5349240" y="6108192"/>
            <a:ext cx="140817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4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Shows evidence</a:t>
            </a:r>
            <a:endParaRPr lang="en-US" sz="1140"/>
          </a:p>
        </p:txBody>
      </p:sp>
      <p:sp>
        <p:nvSpPr>
          <p:cNvPr id="66" name="Text 66"/>
          <p:cNvSpPr txBox="1"/>
          <p:nvPr/>
        </p:nvSpPr>
        <p:spPr>
          <a:xfrm>
            <a:off x="6885432" y="61081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4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Shows uncertainty</a:t>
            </a:r>
            <a:endParaRPr lang="en-US" sz="1140"/>
          </a:p>
        </p:txBody>
      </p:sp>
      <p:sp>
        <p:nvSpPr>
          <p:cNvPr id="67" name="Text 67"/>
          <p:cNvSpPr txBox="1"/>
          <p:nvPr/>
        </p:nvSpPr>
        <p:spPr>
          <a:xfrm>
            <a:off x="8613648" y="6108192"/>
            <a:ext cx="2615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Human review remains in control</a:t>
            </a:r>
            <a:endParaRPr lang="en-US" sz="11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7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621792" y="484632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20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A pilot Gjakova can actually test.</a:t>
            </a:r>
            <a:endParaRPr lang="en-US" sz="3200"/>
          </a:p>
        </p:txBody>
      </p:sp>
      <p:sp>
        <p:nvSpPr>
          <p:cNvPr id="70" name="Text 70"/>
          <p:cNvSpPr txBox="1"/>
          <p:nvPr/>
        </p:nvSpPr>
        <p:spPr>
          <a:xfrm>
            <a:off x="685800" y="1508760"/>
            <a:ext cx="2697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€6,000</a:t>
            </a:r>
            <a:endParaRPr lang="en-US" sz="2800"/>
          </a:p>
        </p:txBody>
      </p:sp>
      <p:sp>
        <p:nvSpPr>
          <p:cNvPr id="71" name="Text 71"/>
          <p:cNvSpPr txBox="1"/>
          <p:nvPr/>
        </p:nvSpPr>
        <p:spPr>
          <a:xfrm>
            <a:off x="685800" y="2093976"/>
            <a:ext cx="269748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BUILD TOWARD PILOT READINESS</a:t>
            </a:r>
            <a:endParaRPr lang="en-US" sz="1220"/>
          </a:p>
        </p:txBody>
      </p:sp>
      <p:sp>
        <p:nvSpPr>
          <p:cNvPr id="72" name="Text 72"/>
          <p:cNvSpPr txBox="1"/>
          <p:nvPr/>
        </p:nvSpPr>
        <p:spPr>
          <a:xfrm>
            <a:off x="685800" y="256032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3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One-off</a:t>
            </a:r>
            <a:endParaRPr lang="en-US" sz="1130"/>
          </a:p>
        </p:txBody>
      </p:sp>
      <p:sp>
        <p:nvSpPr>
          <p:cNvPr id="73" name="Shape 73"/>
          <p:cNvSpPr/>
          <p:nvPr/>
        </p:nvSpPr>
        <p:spPr>
          <a:xfrm>
            <a:off x="3438144" y="1481328"/>
            <a:ext cx="10973" cy="1536192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74" name="Text 74"/>
          <p:cNvSpPr txBox="1"/>
          <p:nvPr/>
        </p:nvSpPr>
        <p:spPr>
          <a:xfrm>
            <a:off x="3593592" y="1508760"/>
            <a:ext cx="2697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€1,000</a:t>
            </a:r>
            <a:endParaRPr lang="en-US" sz="2800"/>
          </a:p>
        </p:txBody>
      </p:sp>
      <p:sp>
        <p:nvSpPr>
          <p:cNvPr id="75" name="Text 75"/>
          <p:cNvSpPr txBox="1"/>
          <p:nvPr/>
        </p:nvSpPr>
        <p:spPr>
          <a:xfrm>
            <a:off x="3593592" y="2093976"/>
            <a:ext cx="269748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SETUP + TRAINING</a:t>
            </a:r>
            <a:endParaRPr lang="en-US" sz="1220"/>
          </a:p>
        </p:txBody>
      </p:sp>
      <p:sp>
        <p:nvSpPr>
          <p:cNvPr id="76" name="Text 76"/>
          <p:cNvSpPr txBox="1"/>
          <p:nvPr/>
        </p:nvSpPr>
        <p:spPr>
          <a:xfrm>
            <a:off x="3593592" y="256032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3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One-off</a:t>
            </a:r>
            <a:endParaRPr lang="en-US" sz="1130"/>
          </a:p>
        </p:txBody>
      </p:sp>
      <p:sp>
        <p:nvSpPr>
          <p:cNvPr id="77" name="Shape 77"/>
          <p:cNvSpPr/>
          <p:nvPr/>
        </p:nvSpPr>
        <p:spPr>
          <a:xfrm>
            <a:off x="6345936" y="1481328"/>
            <a:ext cx="10973" cy="1536192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78" name="Text 78"/>
          <p:cNvSpPr txBox="1"/>
          <p:nvPr/>
        </p:nvSpPr>
        <p:spPr>
          <a:xfrm>
            <a:off x="6501384" y="1508760"/>
            <a:ext cx="2697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€50 / month</a:t>
            </a:r>
            <a:endParaRPr lang="en-US" sz="2800"/>
          </a:p>
        </p:txBody>
      </p:sp>
      <p:sp>
        <p:nvSpPr>
          <p:cNvPr id="79" name="Text 79"/>
          <p:cNvSpPr txBox="1"/>
          <p:nvPr/>
        </p:nvSpPr>
        <p:spPr>
          <a:xfrm>
            <a:off x="6501384" y="2093976"/>
            <a:ext cx="269748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OPERATION</a:t>
            </a:r>
            <a:endParaRPr lang="en-US" sz="1220"/>
          </a:p>
        </p:txBody>
      </p:sp>
      <p:sp>
        <p:nvSpPr>
          <p:cNvPr id="80" name="Text 80"/>
          <p:cNvSpPr txBox="1"/>
          <p:nvPr/>
        </p:nvSpPr>
        <p:spPr>
          <a:xfrm>
            <a:off x="6501384" y="256032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3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Planning assumption</a:t>
            </a:r>
            <a:endParaRPr lang="en-US" sz="1130"/>
          </a:p>
        </p:txBody>
      </p:sp>
      <p:sp>
        <p:nvSpPr>
          <p:cNvPr id="81" name="Shape 81"/>
          <p:cNvSpPr/>
          <p:nvPr/>
        </p:nvSpPr>
        <p:spPr>
          <a:xfrm>
            <a:off x="9253728" y="1481328"/>
            <a:ext cx="10973" cy="1536192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82" name="Text 82"/>
          <p:cNvSpPr txBox="1"/>
          <p:nvPr/>
        </p:nvSpPr>
        <p:spPr>
          <a:xfrm>
            <a:off x="9409176" y="1508760"/>
            <a:ext cx="2697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€2,400 / year</a:t>
            </a:r>
            <a:endParaRPr lang="en-US" sz="2800"/>
          </a:p>
        </p:txBody>
      </p:sp>
      <p:sp>
        <p:nvSpPr>
          <p:cNvPr id="83" name="Text 83"/>
          <p:cNvSpPr txBox="1"/>
          <p:nvPr/>
        </p:nvSpPr>
        <p:spPr>
          <a:xfrm>
            <a:off x="9409176" y="2093976"/>
            <a:ext cx="269748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SUPPORT</a:t>
            </a:r>
            <a:endParaRPr lang="en-US" sz="1220"/>
          </a:p>
        </p:txBody>
      </p:sp>
      <p:sp>
        <p:nvSpPr>
          <p:cNvPr id="84" name="Text 84"/>
          <p:cNvSpPr txBox="1"/>
          <p:nvPr/>
        </p:nvSpPr>
        <p:spPr>
          <a:xfrm>
            <a:off x="9409176" y="256032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3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Planning assumption</a:t>
            </a:r>
            <a:endParaRPr lang="en-US" sz="1130"/>
          </a:p>
        </p:txBody>
      </p:sp>
      <p:sp>
        <p:nvSpPr>
          <p:cNvPr id="85" name="Shape 85"/>
          <p:cNvSpPr/>
          <p:nvPr/>
        </p:nvSpPr>
        <p:spPr>
          <a:xfrm>
            <a:off x="685800" y="2971800"/>
            <a:ext cx="10954512" cy="10973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86" name="Text 86"/>
          <p:cNvSpPr txBox="1"/>
          <p:nvPr/>
        </p:nvSpPr>
        <p:spPr>
          <a:xfrm>
            <a:off x="731520" y="3127248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7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≈ €10,000</a:t>
            </a:r>
            <a:endParaRPr lang="en-US" sz="2700"/>
          </a:p>
        </p:txBody>
      </p:sp>
      <p:sp>
        <p:nvSpPr>
          <p:cNvPr id="87" name="Text 87"/>
          <p:cNvSpPr txBox="1"/>
          <p:nvPr/>
        </p:nvSpPr>
        <p:spPr>
          <a:xfrm>
            <a:off x="2862072" y="3154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0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ILLUSTRATIVE FIRST YEAR</a:t>
            </a:r>
            <a:endParaRPr lang="en-US" sz="1500"/>
          </a:p>
        </p:txBody>
      </p:sp>
      <p:sp>
        <p:nvSpPr>
          <p:cNvPr id="88" name="Text 88"/>
          <p:cNvSpPr txBox="1"/>
          <p:nvPr/>
        </p:nvSpPr>
        <p:spPr>
          <a:xfrm>
            <a:off x="8741664" y="3182112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108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Planning assumptions — not quotes</a:t>
            </a:r>
            <a:endParaRPr lang="en-US" sz="1080"/>
          </a:p>
        </p:txBody>
      </p:sp>
      <p:sp>
        <p:nvSpPr>
          <p:cNvPr id="89" name="Text 89"/>
          <p:cNvSpPr txBox="1"/>
          <p:nvPr/>
        </p:nvSpPr>
        <p:spPr>
          <a:xfrm>
            <a:off x="713232" y="392277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8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FOUR WEEKS · VALIDATION</a:t>
            </a:r>
            <a:endParaRPr lang="en-US" sz="1080"/>
          </a:p>
        </p:txBody>
      </p:sp>
      <p:sp>
        <p:nvSpPr>
          <p:cNvPr id="90" name="Text 90"/>
          <p:cNvSpPr txBox="1"/>
          <p:nvPr/>
        </p:nvSpPr>
        <p:spPr>
          <a:xfrm>
            <a:off x="713232" y="4352544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WEEK 1</a:t>
            </a:r>
            <a:endParaRPr lang="en-US" sz="1200"/>
          </a:p>
        </p:txBody>
      </p:sp>
      <p:sp>
        <p:nvSpPr>
          <p:cNvPr id="91" name="Text 91"/>
          <p:cNvSpPr txBox="1"/>
          <p:nvPr/>
        </p:nvSpPr>
        <p:spPr>
          <a:xfrm>
            <a:off x="713232" y="4690872"/>
            <a:ext cx="260604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Map one real workflow</a:t>
            </a:r>
            <a:endParaRPr lang="en-US" sz="1520"/>
          </a:p>
        </p:txBody>
      </p:sp>
      <p:sp>
        <p:nvSpPr>
          <p:cNvPr id="92" name="Text 92"/>
          <p:cNvSpPr txBox="1"/>
          <p:nvPr/>
        </p:nvSpPr>
        <p:spPr>
          <a:xfrm>
            <a:off x="3575304" y="4352544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WEEK 2</a:t>
            </a:r>
            <a:endParaRPr lang="en-US" sz="1200"/>
          </a:p>
        </p:txBody>
      </p:sp>
      <p:sp>
        <p:nvSpPr>
          <p:cNvPr id="93" name="Text 93"/>
          <p:cNvSpPr txBox="1"/>
          <p:nvPr/>
        </p:nvSpPr>
        <p:spPr>
          <a:xfrm>
            <a:off x="3575304" y="4690872"/>
            <a:ext cx="260604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Adapt the pilot</a:t>
            </a:r>
            <a:endParaRPr lang="en-US" sz="1520"/>
          </a:p>
        </p:txBody>
      </p:sp>
      <p:sp>
        <p:nvSpPr>
          <p:cNvPr id="94" name="Text 94"/>
          <p:cNvSpPr txBox="1"/>
          <p:nvPr/>
        </p:nvSpPr>
        <p:spPr>
          <a:xfrm>
            <a:off x="6437376" y="4352544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WEEK 3</a:t>
            </a:r>
            <a:endParaRPr lang="en-US" sz="1200"/>
          </a:p>
        </p:txBody>
      </p:sp>
      <p:sp>
        <p:nvSpPr>
          <p:cNvPr id="95" name="Text 95"/>
          <p:cNvSpPr txBox="1"/>
          <p:nvPr/>
        </p:nvSpPr>
        <p:spPr>
          <a:xfrm>
            <a:off x="6437376" y="4690872"/>
            <a:ext cx="260604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Supervised testing</a:t>
            </a:r>
            <a:endParaRPr lang="en-US" sz="1520"/>
          </a:p>
        </p:txBody>
      </p:sp>
      <p:sp>
        <p:nvSpPr>
          <p:cNvPr id="96" name="Text 96"/>
          <p:cNvSpPr txBox="1"/>
          <p:nvPr/>
        </p:nvSpPr>
        <p:spPr>
          <a:xfrm>
            <a:off x="9299448" y="4352544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WEEK 4</a:t>
            </a:r>
            <a:endParaRPr lang="en-US" sz="1200"/>
          </a:p>
        </p:txBody>
      </p:sp>
      <p:sp>
        <p:nvSpPr>
          <p:cNvPr id="97" name="Text 97"/>
          <p:cNvSpPr txBox="1"/>
          <p:nvPr/>
        </p:nvSpPr>
        <p:spPr>
          <a:xfrm>
            <a:off x="9299448" y="4690872"/>
            <a:ext cx="2606040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Measure and decide</a:t>
            </a:r>
            <a:endParaRPr lang="en-US" sz="1520"/>
          </a:p>
        </p:txBody>
      </p:sp>
      <p:sp>
        <p:nvSpPr>
          <p:cNvPr id="98" name="Text 98"/>
          <p:cNvSpPr txBox="1"/>
          <p:nvPr/>
        </p:nvSpPr>
        <p:spPr>
          <a:xfrm>
            <a:off x="713232" y="544982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5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START WITH</a:t>
            </a:r>
            <a:endParaRPr lang="en-US" sz="1250"/>
          </a:p>
        </p:txBody>
      </p:sp>
      <p:sp>
        <p:nvSpPr>
          <p:cNvPr id="99" name="Text 99"/>
          <p:cNvSpPr txBox="1"/>
          <p:nvPr/>
        </p:nvSpPr>
        <p:spPr>
          <a:xfrm>
            <a:off x="1965960" y="5404104"/>
            <a:ext cx="94640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5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1 grant call     ·     1 grants officer     ·     1 archive / IT contact</a:t>
            </a:r>
            <a:endParaRPr lang="en-US" sz="1650"/>
          </a:p>
        </p:txBody>
      </p:sp>
      <p:sp>
        <p:nvSpPr>
          <p:cNvPr id="100" name="Shape 100"/>
          <p:cNvSpPr/>
          <p:nvPr/>
        </p:nvSpPr>
        <p:spPr>
          <a:xfrm>
            <a:off x="685800" y="6007608"/>
            <a:ext cx="10954512" cy="10973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101" name="Text 101"/>
          <p:cNvSpPr txBox="1"/>
          <p:nvPr/>
        </p:nvSpPr>
        <p:spPr>
          <a:xfrm>
            <a:off x="713232" y="6108192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6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Planning model excludes procurement, complex SMAED integration, broader compliance, larger production storage, taxes and travel. No savings measured.</a:t>
            </a:r>
            <a:endParaRPr lang="en-US" sz="106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7"/>
          </a:solidFill>
          <a:ln>
            <a:noFill/>
          </a:ln>
        </p:spPr>
      </p:sp>
      <p:sp>
        <p:nvSpPr>
          <p:cNvPr id="103" name="Text 103"/>
          <p:cNvSpPr txBox="1"/>
          <p:nvPr/>
        </p:nvSpPr>
        <p:spPr>
          <a:xfrm>
            <a:off x="621792" y="484632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20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Start small. Prove it in Gjakova.</a:t>
            </a:r>
            <a:endParaRPr lang="en-US" sz="3200"/>
          </a:p>
        </p:txBody>
      </p:sp>
      <p:sp>
        <p:nvSpPr>
          <p:cNvPr id="104" name="Text 104"/>
          <p:cNvSpPr txBox="1"/>
          <p:nvPr/>
        </p:nvSpPr>
        <p:spPr>
          <a:xfrm>
            <a:off x="713232" y="1307592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2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A PRACTICAL PATH</a:t>
            </a:r>
            <a:endParaRPr lang="en-US" sz="1320"/>
          </a:p>
        </p:txBody>
      </p:sp>
      <p:sp>
        <p:nvSpPr>
          <p:cNvPr id="105" name="Shape 105"/>
          <p:cNvSpPr/>
          <p:nvPr/>
        </p:nvSpPr>
        <p:spPr>
          <a:xfrm>
            <a:off x="731520" y="1856232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06" name="Text 106"/>
          <p:cNvSpPr txBox="1"/>
          <p:nvPr/>
        </p:nvSpPr>
        <p:spPr>
          <a:xfrm>
            <a:off x="969264" y="1746504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8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Uses the existing grant process</a:t>
            </a:r>
            <a:endParaRPr lang="en-US" sz="1580"/>
          </a:p>
        </p:txBody>
      </p:sp>
      <p:sp>
        <p:nvSpPr>
          <p:cNvPr id="107" name="Shape 107"/>
          <p:cNvSpPr/>
          <p:nvPr/>
        </p:nvSpPr>
        <p:spPr>
          <a:xfrm>
            <a:off x="731520" y="2414016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08" name="Text 108"/>
          <p:cNvSpPr txBox="1"/>
          <p:nvPr/>
        </p:nvSpPr>
        <p:spPr>
          <a:xfrm>
            <a:off x="969264" y="2304288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8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Does not require replacing SMAED</a:t>
            </a:r>
            <a:endParaRPr lang="en-US" sz="1580"/>
          </a:p>
        </p:txBody>
      </p:sp>
      <p:sp>
        <p:nvSpPr>
          <p:cNvPr id="109" name="Shape 109"/>
          <p:cNvSpPr/>
          <p:nvPr/>
        </p:nvSpPr>
        <p:spPr>
          <a:xfrm>
            <a:off x="731520" y="2971800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10" name="Text 110"/>
          <p:cNvSpPr txBox="1"/>
          <p:nvPr/>
        </p:nvSpPr>
        <p:spPr>
          <a:xfrm>
            <a:off x="969264" y="2862072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8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Starts with an approved manual archive handoff</a:t>
            </a:r>
            <a:endParaRPr lang="en-US" sz="1580"/>
          </a:p>
        </p:txBody>
      </p:sp>
      <p:sp>
        <p:nvSpPr>
          <p:cNvPr id="111" name="Shape 111"/>
          <p:cNvSpPr/>
          <p:nvPr/>
        </p:nvSpPr>
        <p:spPr>
          <a:xfrm>
            <a:off x="731520" y="3529584"/>
            <a:ext cx="68580" cy="68580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12" name="Text 112"/>
          <p:cNvSpPr txBox="1"/>
          <p:nvPr/>
        </p:nvSpPr>
        <p:spPr>
          <a:xfrm>
            <a:off x="969264" y="3419856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8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Expands after the workflow is validated</a:t>
            </a:r>
            <a:endParaRPr lang="en-US" sz="1580"/>
          </a:p>
        </p:txBody>
      </p:sp>
      <p:sp>
        <p:nvSpPr>
          <p:cNvPr id="113" name="Text 113"/>
          <p:cNvSpPr txBox="1"/>
          <p:nvPr/>
        </p:nvSpPr>
        <p:spPr>
          <a:xfrm>
            <a:off x="713232" y="4133088"/>
            <a:ext cx="498348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2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THE ASK</a:t>
            </a:r>
            <a:endParaRPr lang="en-US" sz="1320"/>
          </a:p>
        </p:txBody>
      </p:sp>
      <p:sp>
        <p:nvSpPr>
          <p:cNvPr id="114" name="Shape 114"/>
          <p:cNvSpPr/>
          <p:nvPr/>
        </p:nvSpPr>
        <p:spPr>
          <a:xfrm>
            <a:off x="731520" y="4590288"/>
            <a:ext cx="54864" cy="54864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15" name="Text 115"/>
          <p:cNvSpPr txBox="1"/>
          <p:nvPr/>
        </p:nvSpPr>
        <p:spPr>
          <a:xfrm>
            <a:off x="905256" y="4489704"/>
            <a:ext cx="23225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ONE GRANTS OFFICER</a:t>
            </a:r>
            <a:endParaRPr lang="en-US" sz="1320"/>
          </a:p>
        </p:txBody>
      </p:sp>
      <p:sp>
        <p:nvSpPr>
          <p:cNvPr id="116" name="Shape 116"/>
          <p:cNvSpPr/>
          <p:nvPr/>
        </p:nvSpPr>
        <p:spPr>
          <a:xfrm>
            <a:off x="3310128" y="4590288"/>
            <a:ext cx="54864" cy="54864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17" name="Text 117"/>
          <p:cNvSpPr txBox="1"/>
          <p:nvPr/>
        </p:nvSpPr>
        <p:spPr>
          <a:xfrm>
            <a:off x="3483864" y="4489704"/>
            <a:ext cx="23225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ONE ARCHIVE / IT CONTACT</a:t>
            </a:r>
            <a:endParaRPr lang="en-US" sz="1320"/>
          </a:p>
        </p:txBody>
      </p:sp>
      <p:sp>
        <p:nvSpPr>
          <p:cNvPr id="118" name="Shape 118"/>
          <p:cNvSpPr/>
          <p:nvPr/>
        </p:nvSpPr>
        <p:spPr>
          <a:xfrm>
            <a:off x="731520" y="5084064"/>
            <a:ext cx="54864" cy="54864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19" name="Text 119"/>
          <p:cNvSpPr txBox="1"/>
          <p:nvPr/>
        </p:nvSpPr>
        <p:spPr>
          <a:xfrm>
            <a:off x="905256" y="4983480"/>
            <a:ext cx="23225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ONE UPCOMING CALL</a:t>
            </a:r>
            <a:endParaRPr lang="en-US" sz="1320"/>
          </a:p>
        </p:txBody>
      </p:sp>
      <p:sp>
        <p:nvSpPr>
          <p:cNvPr id="120" name="Shape 120"/>
          <p:cNvSpPr/>
          <p:nvPr/>
        </p:nvSpPr>
        <p:spPr>
          <a:xfrm>
            <a:off x="3310128" y="5084064"/>
            <a:ext cx="54864" cy="54864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21" name="Text 121"/>
          <p:cNvSpPr txBox="1"/>
          <p:nvPr/>
        </p:nvSpPr>
        <p:spPr>
          <a:xfrm>
            <a:off x="3483864" y="4983480"/>
            <a:ext cx="23225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20" b="1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ONE SUPERVISED PILOT</a:t>
            </a:r>
            <a:endParaRPr lang="en-US" sz="1320"/>
          </a:p>
        </p:txBody>
      </p:sp>
      <p:pic>
        <p:nvPicPr>
          <p:cNvPr id="122" name="Image 122" descr="final-staff-archive-1440x900.png"/>
          <p:cNvPicPr>
            <a:picLocks noChangeAspect="1"/>
          </p:cNvPicPr>
          <p:nvPr/>
        </p:nvPicPr>
        <p:blipFill>
          <a:blip r:embed="rId2">
            <a:srcRect l="12500" t="6250" r="0" b="6250"/>
          </a:blip>
          <a:stretch>
            <a:fillRect/>
          </a:stretch>
        </p:blipFill>
        <p:spPr>
          <a:xfrm>
            <a:off x="6016752" y="1307592"/>
            <a:ext cx="5513832" cy="3447288"/>
          </a:xfrm>
          <a:prstGeom prst="rect">
            <a:avLst/>
          </a:prstGeom>
        </p:spPr>
      </p:pic>
      <p:sp>
        <p:nvSpPr>
          <p:cNvPr id="123" name="Text 123"/>
          <p:cNvSpPr txBox="1"/>
          <p:nvPr/>
        </p:nvSpPr>
        <p:spPr>
          <a:xfrm>
            <a:off x="6053328" y="4882896"/>
            <a:ext cx="12435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30" b="1" dirty="0">
                <a:solidFill>
                  <a:srgbClr val="7A1F2B"/>
                </a:solidFill>
                <a:latin typeface="Inter"/>
                <a:ea typeface="Inter"/>
                <a:cs typeface="Inter"/>
              </a:rPr>
              <a:t>WHY FEASIBLE</a:t>
            </a:r>
            <a:endParaRPr lang="en-US" sz="1130"/>
          </a:p>
        </p:txBody>
      </p:sp>
      <p:sp>
        <p:nvSpPr>
          <p:cNvPr id="124" name="Shape 124"/>
          <p:cNvSpPr/>
          <p:nvPr/>
        </p:nvSpPr>
        <p:spPr>
          <a:xfrm>
            <a:off x="6053328" y="5303520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25" name="Text 125"/>
          <p:cNvSpPr txBox="1"/>
          <p:nvPr/>
        </p:nvSpPr>
        <p:spPr>
          <a:xfrm>
            <a:off x="6190488" y="5212080"/>
            <a:ext cx="254203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Browser based</a:t>
            </a:r>
            <a:endParaRPr lang="en-US" sz="1180"/>
          </a:p>
        </p:txBody>
      </p:sp>
      <p:sp>
        <p:nvSpPr>
          <p:cNvPr id="126" name="Shape 126"/>
          <p:cNvSpPr/>
          <p:nvPr/>
        </p:nvSpPr>
        <p:spPr>
          <a:xfrm>
            <a:off x="8805672" y="5303520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27" name="Text 127"/>
          <p:cNvSpPr txBox="1"/>
          <p:nvPr/>
        </p:nvSpPr>
        <p:spPr>
          <a:xfrm>
            <a:off x="8942832" y="5212080"/>
            <a:ext cx="254203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Mobile applicants · desktop staff</a:t>
            </a:r>
            <a:endParaRPr lang="en-US" sz="1180"/>
          </a:p>
        </p:txBody>
      </p:sp>
      <p:sp>
        <p:nvSpPr>
          <p:cNvPr id="128" name="Shape 128"/>
          <p:cNvSpPr/>
          <p:nvPr/>
        </p:nvSpPr>
        <p:spPr>
          <a:xfrm>
            <a:off x="6053328" y="5696712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29" name="Text 129"/>
          <p:cNvSpPr txBox="1"/>
          <p:nvPr/>
        </p:nvSpPr>
        <p:spPr>
          <a:xfrm>
            <a:off x="6190488" y="5605272"/>
            <a:ext cx="254203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Human decisions stay human</a:t>
            </a:r>
            <a:endParaRPr lang="en-US" sz="1180"/>
          </a:p>
        </p:txBody>
      </p:sp>
      <p:sp>
        <p:nvSpPr>
          <p:cNvPr id="130" name="Shape 130"/>
          <p:cNvSpPr/>
          <p:nvPr/>
        </p:nvSpPr>
        <p:spPr>
          <a:xfrm>
            <a:off x="8805672" y="5696712"/>
            <a:ext cx="50292" cy="50292"/>
          </a:xfrm>
          <a:prstGeom prst="rect">
            <a:avLst/>
          </a:prstGeom>
          <a:solidFill>
            <a:srgbClr val="7A1F2B"/>
          </a:solidFill>
          <a:ln>
            <a:noFill/>
          </a:ln>
        </p:spPr>
      </p:sp>
      <p:sp>
        <p:nvSpPr>
          <p:cNvPr id="131" name="Text 131"/>
          <p:cNvSpPr txBox="1"/>
          <p:nvPr/>
        </p:nvSpPr>
        <p:spPr>
          <a:xfrm>
            <a:off x="8942832" y="5605272"/>
            <a:ext cx="254203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0" dirty="0">
                <a:solidFill>
                  <a:srgbClr val="202124"/>
                </a:solidFill>
                <a:latin typeface="Inter"/>
                <a:ea typeface="Inter"/>
                <a:cs typeface="Inter"/>
              </a:rPr>
              <a:t>Existing archive remains authoritative</a:t>
            </a:r>
            <a:endParaRPr lang="en-US" sz="1180"/>
          </a:p>
        </p:txBody>
      </p:sp>
      <p:sp>
        <p:nvSpPr>
          <p:cNvPr id="132" name="Shape 132"/>
          <p:cNvSpPr/>
          <p:nvPr/>
        </p:nvSpPr>
        <p:spPr>
          <a:xfrm>
            <a:off x="685800" y="6144768"/>
            <a:ext cx="10954512" cy="10973"/>
          </a:xfrm>
          <a:prstGeom prst="rect">
            <a:avLst/>
          </a:prstGeom>
          <a:solidFill>
            <a:srgbClr val="E2E3E5"/>
          </a:solidFill>
          <a:ln>
            <a:noFill/>
          </a:ln>
        </p:spPr>
      </p:sp>
      <p:sp>
        <p:nvSpPr>
          <p:cNvPr id="133" name="Text 133"/>
          <p:cNvSpPr txBox="1"/>
          <p:nvPr/>
        </p:nvSpPr>
        <p:spPr>
          <a:xfrm>
            <a:off x="713232" y="6245352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80" dirty="0">
                <a:solidFill>
                  <a:srgbClr val="666A70"/>
                </a:solidFill>
                <a:latin typeface="Inter"/>
                <a:ea typeface="Inter"/>
                <a:cs typeface="Inter"/>
              </a:rPr>
              <a:t>Team Pooks · [TEAM NAMES / CONTACT — CONFIRM BEFORE SUBMISSION]</a:t>
            </a:r>
            <a:endParaRPr lang="en-US" sz="10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jakova Grants">
  <a:themeElements>
    <a:clrScheme name="Gjakova">
      <a:dk1>
        <a:srgbClr val="202124"/>
      </a:dk1>
      <a:lt1>
        <a:srgbClr val="FFFFFF"/>
      </a:lt1>
      <a:dk2>
        <a:srgbClr val="666A70"/>
      </a:dk2>
      <a:lt2>
        <a:srgbClr val="F8F8F7"/>
      </a:lt2>
      <a:accent1>
        <a:srgbClr val="7A1F2B"/>
      </a:accent1>
      <a:accent2>
        <a:srgbClr val="E2E3E5"/>
      </a:accent2>
      <a:accent3>
        <a:srgbClr val="F0F1F2"/>
      </a:accent3>
      <a:accent4>
        <a:srgbClr val="F3E8EA"/>
      </a:accent4>
      <a:accent5>
        <a:srgbClr val="FFF3D8"/>
      </a:accent5>
      <a:accent6>
        <a:srgbClr val="7B5100"/>
      </a:accent6>
      <a:hlink>
        <a:srgbClr val="0000FF"/>
      </a:hlink>
      <a:folHlink>
        <a:srgbClr val="800080"/>
      </a:folHlink>
    </a:clrScheme>
    <a:fontScheme name="Inter">
      <a:majorFont>
        <a:latin typeface="Inter"/>
        <a:ea typeface="Inter"/>
        <a:cs typeface="Inter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